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8696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134963"/>
            <a:ext cx="4722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Поисковая система с инвертированным индексом и обработкой булевых запросов</a:t>
            </a:r>
            <a:endParaRPr lang="en-US" sz="2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925119" y="311951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Курсовая работа по дисциплине «</a:t>
            </a:r>
            <a:r>
              <a:rPr lang="ru-RU" sz="11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Структуры и алгоритмы компьютерной обработки данных</a:t>
            </a: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»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925119" y="3732609"/>
            <a:ext cx="1217563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73784" y="3785741"/>
            <a:ext cx="149512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КГУ · МОАИС · 2026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32101" y="334194"/>
            <a:ext cx="4908798" cy="7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Где используется инвертированный индекс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832101" y="1091505"/>
            <a:ext cx="4024536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Основа любой полнотекстовой поисковой системы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832101" y="1411784"/>
            <a:ext cx="4908798" cy="642789"/>
          </a:xfrm>
          <a:prstGeom prst="roundRect">
            <a:avLst>
              <a:gd name="adj" fmla="val 7526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951982" y="1531665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Поисковые системы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951982" y="1767706"/>
            <a:ext cx="5126236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Google, Yandex, Bing — десятки миллиардов документов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832101" y="2148111"/>
            <a:ext cx="4908798" cy="642789"/>
          </a:xfrm>
          <a:prstGeom prst="roundRect">
            <a:avLst>
              <a:gd name="adj" fmla="val 7526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51982" y="2267992"/>
            <a:ext cx="1993255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Корпоративный поиск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951982" y="2504033"/>
            <a:ext cx="5126236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Elasticsearch, Apache Solr, PostgreSQL FTS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832101" y="2884438"/>
            <a:ext cx="4908798" cy="642789"/>
          </a:xfrm>
          <a:prstGeom prst="roundRect">
            <a:avLst>
              <a:gd name="adj" fmla="val 7526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51982" y="3004319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Задача проекта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951982" y="3240360"/>
            <a:ext cx="5126236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txt, docx, pdf, fb2, epub → быстрый поиск по булевому запросу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832101" y="3620765"/>
            <a:ext cx="4908798" cy="642789"/>
          </a:xfrm>
          <a:prstGeom prst="roundRect">
            <a:avLst>
              <a:gd name="adj" fmla="val 7526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51982" y="3740646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Сложность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951982" y="3976688"/>
            <a:ext cx="5126236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Наивный перебор: </a:t>
            </a:r>
            <a:r>
              <a:rPr lang="en-US" sz="900" b="1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O(N × L)</a:t>
            </a:r>
            <a:r>
              <a:rPr lang="en-US" sz="9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. Инвертированный индекс: </a:t>
            </a:r>
            <a:r>
              <a:rPr lang="en-US" sz="900" b="1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O(размер результата)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832101" y="4368775"/>
            <a:ext cx="4908798" cy="440457"/>
          </a:xfrm>
          <a:prstGeom prst="roundRect">
            <a:avLst>
              <a:gd name="adj" fmla="val 10984"/>
            </a:avLst>
          </a:prstGeom>
          <a:solidFill>
            <a:srgbClr val="B6D6FC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220" y="4530923"/>
            <a:ext cx="143917" cy="11511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206255" y="4491038"/>
            <a:ext cx="487672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Пример запроса: </a:t>
            </a: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python AND (индекс OR поиск) NOT граф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395" y="902121"/>
            <a:ext cx="3442629" cy="39071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029" y="324222"/>
            <a:ext cx="5644530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Четырёхконтейнерная Docker-архитектура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720" y="819596"/>
            <a:ext cx="4180061" cy="39208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70145" y="1472728"/>
            <a:ext cx="1482612" cy="15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C++ :8080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216133" y="3667248"/>
            <a:ext cx="1482612" cy="15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Django :8000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724156" y="3667248"/>
            <a:ext cx="1482612" cy="15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Celery Worker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149069" y="2387111"/>
            <a:ext cx="838098" cy="313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Веб → Стемминг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664334" y="2387111"/>
            <a:ext cx="838098" cy="313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Worker → Стемминг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089578" y="3510497"/>
            <a:ext cx="472344" cy="470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Асинхронные задачи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037328" y="2805115"/>
            <a:ext cx="576845" cy="313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Индекс в SQLite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766420" y="1146944"/>
            <a:ext cx="2249165" cy="725165"/>
          </a:xfrm>
          <a:prstGeom prst="roundRect">
            <a:avLst>
              <a:gd name="adj" fmla="val 9457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52133" y="1146944"/>
            <a:ext cx="57150" cy="725165"/>
          </a:xfrm>
          <a:prstGeom prst="roundRect">
            <a:avLst>
              <a:gd name="adj" fmla="val 73256"/>
            </a:avLst>
          </a:prstGeom>
          <a:solidFill>
            <a:srgbClr val="1B1B27"/>
          </a:solidFill>
          <a:ln/>
        </p:spPr>
      </p:sp>
      <p:sp>
        <p:nvSpPr>
          <p:cNvPr id="13" name="Text 10"/>
          <p:cNvSpPr/>
          <p:nvPr/>
        </p:nvSpPr>
        <p:spPr>
          <a:xfrm>
            <a:off x="5923211" y="1260872"/>
            <a:ext cx="17031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Django :8000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923211" y="1486570"/>
            <a:ext cx="1978447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Веб-интерфейс, маршрутизация, поисковый движок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766420" y="1942133"/>
            <a:ext cx="2249165" cy="589359"/>
          </a:xfrm>
          <a:prstGeom prst="roundRect">
            <a:avLst>
              <a:gd name="adj" fmla="val 11636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52133" y="1942133"/>
            <a:ext cx="57150" cy="589359"/>
          </a:xfrm>
          <a:prstGeom prst="roundRect">
            <a:avLst>
              <a:gd name="adj" fmla="val 73256"/>
            </a:avLst>
          </a:prstGeom>
          <a:solidFill>
            <a:srgbClr val="1B1B27"/>
          </a:solidFill>
          <a:ln/>
        </p:spPr>
      </p:sp>
      <p:sp>
        <p:nvSpPr>
          <p:cNvPr id="17" name="Text 14"/>
          <p:cNvSpPr/>
          <p:nvPr/>
        </p:nvSpPr>
        <p:spPr>
          <a:xfrm>
            <a:off x="5923211" y="2056061"/>
            <a:ext cx="183706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C++ микросервис :8080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923211" y="2281758"/>
            <a:ext cx="2435647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Стемминг и частотный анализ текста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766420" y="2601516"/>
            <a:ext cx="2249165" cy="589359"/>
          </a:xfrm>
          <a:prstGeom prst="roundRect">
            <a:avLst>
              <a:gd name="adj" fmla="val 11636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752133" y="2601516"/>
            <a:ext cx="57150" cy="589359"/>
          </a:xfrm>
          <a:prstGeom prst="roundRect">
            <a:avLst>
              <a:gd name="adj" fmla="val 73256"/>
            </a:avLst>
          </a:prstGeom>
          <a:solidFill>
            <a:srgbClr val="1B1B27"/>
          </a:solidFill>
          <a:ln/>
        </p:spPr>
      </p:sp>
      <p:sp>
        <p:nvSpPr>
          <p:cNvPr id="21" name="Text 18"/>
          <p:cNvSpPr/>
          <p:nvPr/>
        </p:nvSpPr>
        <p:spPr>
          <a:xfrm>
            <a:off x="5923211" y="2715444"/>
            <a:ext cx="17031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Redis :6379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923211" y="2941141"/>
            <a:ext cx="2435647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Брокер очереди задач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766420" y="3260899"/>
            <a:ext cx="2249165" cy="725165"/>
          </a:xfrm>
          <a:prstGeom prst="roundRect">
            <a:avLst>
              <a:gd name="adj" fmla="val 9457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752133" y="3260899"/>
            <a:ext cx="57150" cy="725165"/>
          </a:xfrm>
          <a:prstGeom prst="roundRect">
            <a:avLst>
              <a:gd name="adj" fmla="val 73256"/>
            </a:avLst>
          </a:prstGeom>
          <a:solidFill>
            <a:srgbClr val="1B1B27"/>
          </a:solidFill>
          <a:ln/>
        </p:spPr>
      </p:sp>
      <p:sp>
        <p:nvSpPr>
          <p:cNvPr id="25" name="Text 22"/>
          <p:cNvSpPr/>
          <p:nvPr/>
        </p:nvSpPr>
        <p:spPr>
          <a:xfrm>
            <a:off x="5923211" y="3374827"/>
            <a:ext cx="17031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Celery Worker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923211" y="3600524"/>
            <a:ext cx="1978447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Асинхронное построение индекса, не блокирует интерфейс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766420" y="4064868"/>
            <a:ext cx="2249165" cy="348258"/>
          </a:xfrm>
          <a:prstGeom prst="roundRect">
            <a:avLst>
              <a:gd name="adj" fmla="val 12021"/>
            </a:avLst>
          </a:prstGeom>
          <a:solidFill>
            <a:srgbClr val="B6FCB8"/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6061" y="4202162"/>
            <a:ext cx="124569" cy="9964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090270" y="4159746"/>
            <a:ext cx="2282875" cy="140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000000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docker-compose up --build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7216"/>
            <a:ext cx="4624908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Алгоритм построения индекса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4489" y="736104"/>
            <a:ext cx="474166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Выполняется асинхронно задачей Celery после загрузки файла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74489" y="1047601"/>
            <a:ext cx="451842" cy="677763"/>
          </a:xfrm>
          <a:prstGeom prst="roundRect">
            <a:avLst>
              <a:gd name="adj" fmla="val 36003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7053" y="1280592"/>
            <a:ext cx="3980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1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16298" y="1160562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Извлечение текста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6298" y="1391022"/>
            <a:ext cx="771033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Из файла в зависимости от формата (txt, docx, pdf, fb2, epub)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74489" y="1815331"/>
            <a:ext cx="451842" cy="677763"/>
          </a:xfrm>
          <a:prstGeom prst="roundRect">
            <a:avLst>
              <a:gd name="adj" fmla="val 36003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7053" y="2048321"/>
            <a:ext cx="3980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2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16298" y="1928292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Стемминг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16298" y="2158752"/>
            <a:ext cx="7710339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Отправка в C++ </a:t>
            </a:r>
            <a:r>
              <a:rPr lang="en-US" sz="850" dirty="0">
                <a:solidFill>
                  <a:srgbClr val="3C3939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POST /process</a:t>
            </a:r>
            <a:r>
              <a:rPr lang="en-US" sz="85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→ JSON: стем → частота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74489" y="2583061"/>
            <a:ext cx="451842" cy="677763"/>
          </a:xfrm>
          <a:prstGeom prst="roundRect">
            <a:avLst>
              <a:gd name="adj" fmla="val 36003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7053" y="2816051"/>
            <a:ext cx="3980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3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16298" y="2696021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Фильтрация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16298" y="2926482"/>
            <a:ext cx="771033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Удаление стоп-слов, цифр, токенов короче двух символов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74489" y="3350791"/>
            <a:ext cx="451842" cy="677763"/>
          </a:xfrm>
          <a:prstGeom prst="roundRect">
            <a:avLst>
              <a:gd name="adj" fmla="val 36003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53" y="3583781"/>
            <a:ext cx="3980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4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16298" y="3463751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Сохранение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16298" y="3694212"/>
            <a:ext cx="7710339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Термы и частоты → таблицы </a:t>
            </a:r>
            <a:r>
              <a:rPr lang="en-US" sz="850" dirty="0">
                <a:solidFill>
                  <a:srgbClr val="3C3939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Term</a:t>
            </a:r>
            <a:r>
              <a:rPr lang="en-US" sz="85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и </a:t>
            </a:r>
            <a:r>
              <a:rPr lang="en-US" sz="850" dirty="0">
                <a:solidFill>
                  <a:srgbClr val="3C3939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DocumentTerm</a:t>
            </a:r>
            <a:r>
              <a:rPr lang="en-US" sz="85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через </a:t>
            </a:r>
            <a:r>
              <a:rPr lang="en-US" sz="850" dirty="0">
                <a:solidFill>
                  <a:srgbClr val="3C3939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bulk_create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74489" y="4118521"/>
            <a:ext cx="451842" cy="677763"/>
          </a:xfrm>
          <a:prstGeom prst="roundRect">
            <a:avLst>
              <a:gd name="adj" fmla="val 36003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053" y="4351511"/>
            <a:ext cx="3980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5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216298" y="4231481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φ-отбор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216298" y="4461942"/>
            <a:ext cx="7710339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Топ ⌊K / 1.618⌋ термов → все пары → матрица смежности </a:t>
            </a:r>
            <a:r>
              <a:rPr lang="en-US" sz="850" dirty="0">
                <a:solidFill>
                  <a:srgbClr val="3C3939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TermRelation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39840" y="327347"/>
            <a:ext cx="4893320" cy="733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Алгоритм сортировочной станции Дейкстры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839840" y="1099914"/>
            <a:ext cx="4893320" cy="366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Инфиксное выражение → обратная польская запись → вычисление на множествах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839840" y="1721867"/>
            <a:ext cx="2303487" cy="872951"/>
          </a:xfrm>
          <a:prstGeom prst="roundRect">
            <a:avLst>
              <a:gd name="adj" fmla="val 564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961954" y="1843980"/>
            <a:ext cx="192553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Шаг 1 — Токенизация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961954" y="2124596"/>
            <a:ext cx="2059260" cy="348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Стемминг каждого слова через C++ </a:t>
            </a: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/stem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839840" y="2692003"/>
            <a:ext cx="2303487" cy="1049387"/>
          </a:xfrm>
          <a:prstGeom prst="roundRect">
            <a:avLst>
              <a:gd name="adj" fmla="val 469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61954" y="2814117"/>
            <a:ext cx="19246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Шаг 2 — ОПЗ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961954" y="3094732"/>
            <a:ext cx="2059260" cy="524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NOT=3, AND=2, OR=1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Результат: </a:t>
            </a: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pytho поиск граф OR алгоритм NOT AND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839840" y="3838575"/>
            <a:ext cx="2303487" cy="868189"/>
          </a:xfrm>
          <a:prstGeom prst="roundRect">
            <a:avLst>
              <a:gd name="adj" fmla="val 567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61954" y="3960688"/>
            <a:ext cx="213531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Шаг 3 — Стек множеств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961954" y="4241304"/>
            <a:ext cx="2059260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AND → пересечение, OR → объединение, NOT → дополнение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434435" y="1721867"/>
            <a:ext cx="2303487" cy="797123"/>
          </a:xfrm>
          <a:prstGeom prst="roundRect">
            <a:avLst>
              <a:gd name="adj" fmla="val 6186"/>
            </a:avLst>
          </a:prstGeom>
          <a:solidFill>
            <a:srgbClr val="B6D6FC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786" y="1889671"/>
            <a:ext cx="146745" cy="11735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15882" y="1848371"/>
            <a:ext cx="1804690" cy="524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Пример запроса: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python AND (поиск OR граф) NOT алгоритм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434435" y="2628305"/>
            <a:ext cx="2303487" cy="8631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Каждый терм обращается к инвертированному индексу и возвращает множество </a:t>
            </a: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document_id</a:t>
            </a:r>
            <a:r>
              <a:rPr lang="en-US" sz="9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. Операторы применяются к этим множествам.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0042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Двуязычный стемминг без сторонних библиотек</a:t>
            </a:r>
            <a:endParaRPr lang="en-US" sz="2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632719"/>
            <a:ext cx="67425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C++20, GCC 12 — выбор стеммера по </a:t>
            </a:r>
            <a:r>
              <a:rPr lang="en-US" sz="1350" dirty="0" err="1">
                <a:solidFill>
                  <a:srgbClr val="1B1B27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наличию</a:t>
            </a:r>
            <a:r>
              <a:rPr lang="en-US" sz="1350" dirty="0">
                <a:solidFill>
                  <a:srgbClr val="1B1B27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 </a:t>
            </a:r>
            <a:r>
              <a:rPr lang="en-US" sz="1350" dirty="0" err="1">
                <a:solidFill>
                  <a:srgbClr val="1B1B27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кирилли</a:t>
            </a:r>
            <a:r>
              <a:rPr lang="ru-RU" sz="1350" dirty="0" err="1">
                <a:solidFill>
                  <a:srgbClr val="1B1B27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цы</a:t>
            </a:r>
            <a:r>
              <a:rPr lang="en-US" sz="1350" dirty="0">
                <a:solidFill>
                  <a:srgbClr val="1B1B27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 (U+0400–U+052F)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2208535"/>
            <a:ext cx="30104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🇬🇧</a:t>
            </a:r>
            <a:r>
              <a:rPr lang="en-US" sz="1350" dirty="0">
                <a:solidFill>
                  <a:srgbClr val="1B1B27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 Стеммер Портера (English)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6119" y="2571750"/>
            <a:ext cx="3902943" cy="1070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Шаг 1a: </a:t>
            </a: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sses→ss</a:t>
            </a: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, </a:t>
            </a: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ies→i</a:t>
            </a: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, </a:t>
            </a: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s→∅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Шаг 1b: </a:t>
            </a: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-ed</a:t>
            </a: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и </a:t>
            </a: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-ing</a:t>
            </a: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при наличии гласной в основе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Шаг 1c: финальный </a:t>
            </a: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-y→i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i="1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running → run, searches → search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49701" y="2208535"/>
            <a:ext cx="31762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🇷🇺</a:t>
            </a:r>
            <a:r>
              <a:rPr lang="en-US" sz="1350" dirty="0">
                <a:solidFill>
                  <a:srgbClr val="1B1B27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 Алгоритм Snowball (Русский)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49701" y="2571750"/>
            <a:ext cx="3902943" cy="1070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Шаг 1: удаление </a:t>
            </a: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-ся</a:t>
            </a: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, </a:t>
            </a: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-вши</a:t>
            </a: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, </a:t>
            </a: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-ывшись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Шаг 2: суффиксы прилагательных (</a:t>
            </a: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-ого</a:t>
            </a: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, </a:t>
            </a: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-ой</a:t>
            </a: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…)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Шаг 3–4: окончания </a:t>
            </a: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-и/-ы</a:t>
            </a: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, </a:t>
            </a: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-нн/-н</a:t>
            </a: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, мягкий знак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i="1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поисковых → поиск, индексирования → индекс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96119" y="3851002"/>
            <a:ext cx="8151763" cy="602382"/>
          </a:xfrm>
          <a:prstGeom prst="roundRect">
            <a:avLst>
              <a:gd name="adj" fmla="val 9884"/>
            </a:avLst>
          </a:prstGeom>
          <a:solidFill>
            <a:srgbClr val="D2D2E0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4066059"/>
            <a:ext cx="177180" cy="14175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56816" y="4028182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Стоп-слова: встроенный список ~300 форм на русском и английском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38882"/>
            <a:ext cx="5581501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1B1B27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Граф связанных термов — TermRelation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7336" y="711250"/>
            <a:ext cx="4220096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Накапливает статистику совместного употребления слов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36" y="1098872"/>
            <a:ext cx="3612207" cy="36122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36" y="1098872"/>
            <a:ext cx="3612207" cy="361220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09071" y="2221557"/>
            <a:ext cx="199496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φ-компрессия матрицы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4709071" y="2474119"/>
            <a:ext cx="3612207" cy="464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Из N рёбер удаляются </a:t>
            </a:r>
            <a:r>
              <a:rPr lang="en-US" sz="850" b="1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N − ⌊N / 1.618⌋</a:t>
            </a:r>
            <a:r>
              <a:rPr lang="en-US" sz="85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самых слабых. Удалённые пары сохраняются в архив </a:t>
            </a:r>
            <a:r>
              <a:rPr lang="en-US" sz="850" dirty="0">
                <a:solidFill>
                  <a:srgbClr val="3C3939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TermRelationArchive</a:t>
            </a:r>
            <a:r>
              <a:rPr lang="en-US" sz="85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— восстановление одной кнопкой.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4709071" y="3032224"/>
            <a:ext cx="3612207" cy="545753"/>
          </a:xfrm>
          <a:prstGeom prst="roundRect">
            <a:avLst>
              <a:gd name="adj" fmla="val 8353"/>
            </a:avLst>
          </a:prstGeom>
          <a:solidFill>
            <a:srgbClr val="B6FCB8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7566" y="3182392"/>
            <a:ext cx="135657" cy="1084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61719" y="3142357"/>
            <a:ext cx="31510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Результат для пользователя: </a:t>
            </a:r>
            <a:r>
              <a:rPr lang="en-US" sz="850" dirty="0" err="1">
                <a:solidFill>
                  <a:srgbClr val="000000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кнопки</a:t>
            </a:r>
            <a:r>
              <a:rPr lang="en-US" sz="850" dirty="0">
                <a:solidFill>
                  <a:srgbClr val="000000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-</a:t>
            </a:r>
            <a:r>
              <a:rPr lang="ru-RU" sz="850" dirty="0">
                <a:solidFill>
                  <a:srgbClr val="000000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термы</a:t>
            </a:r>
            <a:r>
              <a:rPr lang="en-US" sz="850" dirty="0">
                <a:solidFill>
                  <a:srgbClr val="000000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«Связанные термины» под результатами поиска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79947"/>
            <a:ext cx="661600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Тестирование нормального режима</a:t>
            </a:r>
            <a:endParaRPr lang="en-US" sz="2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206451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2255118"/>
            <a:ext cx="22292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python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56816" y="2566392"/>
            <a:ext cx="39837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Список документов с частотой вхождения терма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553" y="2206451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1250" y="2255118"/>
            <a:ext cx="22292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python AND индекс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121250" y="2566392"/>
            <a:ext cx="39838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Пересечение постингов двух термов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76724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6816" y="3125391"/>
            <a:ext cx="22292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поиск OR search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956816" y="3436665"/>
            <a:ext cx="39837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Объединение — двуязычный поиск работает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60553" y="3076724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21250" y="3125391"/>
            <a:ext cx="22292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NOT стоп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5121250" y="3436665"/>
            <a:ext cx="39838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Все документы, кроме содержащих слово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94DC7E-AB02-40DA-A7C2-44EF0E703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724" y="0"/>
            <a:ext cx="663455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029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44E9EFF-1BDE-430C-820B-CA658E84A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5467" y="0"/>
            <a:ext cx="5875734" cy="51435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FB023A5-7909-453F-83E5-7FFC94178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267" y="155776"/>
            <a:ext cx="3403733" cy="214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772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6666"/>
            <a:ext cx="794838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Граничные случаи и обработка исключений</a:t>
            </a:r>
            <a:endParaRPr lang="en-US" sz="2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553170"/>
            <a:ext cx="4004965" cy="1313334"/>
          </a:xfrm>
          <a:prstGeom prst="roundRect">
            <a:avLst>
              <a:gd name="adj" fmla="val 6962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7069" y="1553170"/>
            <a:ext cx="76200" cy="1313334"/>
          </a:xfrm>
          <a:prstGeom prst="roundRect">
            <a:avLst>
              <a:gd name="adj" fmla="val 78140"/>
            </a:avLst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714077" y="1713979"/>
            <a:ext cx="25532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Синтаксические ошибки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14077" y="2020491"/>
            <a:ext cx="3626197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Несбалансированные скобки и двойные операторы (</a:t>
            </a: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AND OR</a:t>
            </a: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) → </a:t>
            </a: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QuerySyntaxError</a:t>
            </a: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, живая подсветка за 500 мс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42842" y="1553170"/>
            <a:ext cx="4005039" cy="1313334"/>
          </a:xfrm>
          <a:prstGeom prst="roundRect">
            <a:avLst>
              <a:gd name="adj" fmla="val 6962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23792" y="1553170"/>
            <a:ext cx="76200" cy="1313334"/>
          </a:xfrm>
          <a:prstGeom prst="roundRect">
            <a:avLst>
              <a:gd name="adj" fmla="val 78140"/>
            </a:avLst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4860801" y="1713979"/>
            <a:ext cx="315456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Отсутствие терма / стоп-слова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60801" y="2020491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Пустое множество → «Ничего не найдено»; запрос из одних стоп-слов → предупреждение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96119" y="3008263"/>
            <a:ext cx="4004965" cy="1308571"/>
          </a:xfrm>
          <a:prstGeom prst="roundRect">
            <a:avLst>
              <a:gd name="adj" fmla="val 698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7069" y="3008263"/>
            <a:ext cx="76200" cy="1308571"/>
          </a:xfrm>
          <a:prstGeom prst="roundRect">
            <a:avLst>
              <a:gd name="adj" fmla="val 78140"/>
            </a:avLst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714077" y="316907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Недоступность C++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14077" y="3475583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Fallback: стемминг пропускается, поиск продолжается по оригинальному слову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42842" y="3008263"/>
            <a:ext cx="4005039" cy="1308571"/>
          </a:xfrm>
          <a:prstGeom prst="roundRect">
            <a:avLst>
              <a:gd name="adj" fmla="val 698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3792" y="3008263"/>
            <a:ext cx="76200" cy="1308571"/>
          </a:xfrm>
          <a:prstGeom prst="roundRect">
            <a:avLst>
              <a:gd name="adj" fmla="val 78140"/>
            </a:avLst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4860801" y="3169072"/>
            <a:ext cx="24588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Файловые ограничения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60801" y="3475583"/>
            <a:ext cx="362627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&gt;50 МБ → отказ до загрузки; неподдерживаемый формат (exe, zip) → проверка расширения; пустой файл → документ помечается необработанным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656</Words>
  <Application>Microsoft Office PowerPoint</Application>
  <PresentationFormat>Экран (16:9)</PresentationFormat>
  <Paragraphs>105</Paragraphs>
  <Slides>11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Calibri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Пользователь</dc:creator>
  <cp:lastModifiedBy>User</cp:lastModifiedBy>
  <cp:revision>5</cp:revision>
  <dcterms:created xsi:type="dcterms:W3CDTF">2026-05-20T08:26:09Z</dcterms:created>
  <dcterms:modified xsi:type="dcterms:W3CDTF">2026-05-20T10:21:08Z</dcterms:modified>
</cp:coreProperties>
</file>